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1995" cy="6858000" type="wide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388B9C" accent2="F1A936" accent3="C7E9C4" accent4="E8755D" accent5="477078" accent6="DFF5F2" hlink="0000FF" folHlink="800080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elican.sv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elican.sv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elican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58368" y="731520"/>
            <a:ext cx="109728" cy="1234440"/>
          </a:xfrm>
          <a:prstGeom prst="rect">
            <a:avLst/>
          </a:prstGeom>
          <a:solidFill>
            <a:srgbClr val="F1A936"/>
          </a:solidFill>
          <a:ln>
            <a:noFill/>
          </a:ln>
        </p:spPr>
      </p:sp>
      <p:sp>
        <p:nvSpPr>
          <p:cNvPr id="3" name="Kicker"/>
          <p:cNvSpPr/>
          <p:nvPr/>
        </p:nvSpPr>
        <p:spPr>
          <a:xfrm>
            <a:off x="932688" y="80467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150" b="1">
                <a:solidFill>
                  <a:srgbClr val="D77836"/>
                </a:solidFill>
                <a:latin typeface="Aptos"/>
              </a:rPr>
              <a:t>A DAY AROUND THE BAY</a:t>
            </a:r>
            <a:endParaRPr lang="en-US" sz="1150"/>
          </a:p>
        </p:txBody>
      </p:sp>
      <p:sp>
        <p:nvSpPr>
          <p:cNvPr id="4" name="Title"/>
          <p:cNvSpPr/>
          <p:nvPr/>
        </p:nvSpPr>
        <p:spPr>
          <a:xfrm>
            <a:off x="914400" y="1234440"/>
            <a:ext cx="489204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3300" b="1">
                <a:solidFill>
                  <a:srgbClr val="173A43"/>
                </a:solidFill>
                <a:latin typeface="Aptos"/>
              </a:rPr>
              <a:t>The Bay Ride</a:t>
            </a:r>
            <a:br>
              <a:rPr lang="en-US" sz="3300"/>
            </a:br>
            <a:r>
              <a:rPr lang="en-US" sz="3300" b="1">
                <a:solidFill>
                  <a:srgbClr val="173A43"/>
                </a:solidFill>
                <a:latin typeface="Aptos"/>
              </a:rPr>
              <a:t>Starts Here</a:t>
            </a:r>
            <a:endParaRPr lang="en-US" sz="3300"/>
          </a:p>
        </p:txBody>
      </p:sp>
      <p:sp>
        <p:nvSpPr>
          <p:cNvPr id="5" name="Subtitle"/>
          <p:cNvSpPr/>
          <p:nvPr/>
        </p:nvSpPr>
        <p:spPr>
          <a:xfrm>
            <a:off x="941832" y="2862072"/>
            <a:ext cx="44805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0">
                <a:solidFill>
                  <a:srgbClr val="477078"/>
                </a:solidFill>
                <a:latin typeface="Aptos"/>
              </a:rPr>
              <a:t>A slow ride, salty air, and new places to explore.</a:t>
            </a:r>
            <a:endParaRPr lang="en-US" sz="1700"/>
          </a:p>
        </p:txBody>
      </p:sp>
      <p:sp>
        <p:nvSpPr>
          <p:cNvPr id="6" name="Tag"/>
          <p:cNvSpPr/>
          <p:nvPr/>
        </p:nvSpPr>
        <p:spPr>
          <a:xfrm>
            <a:off x="941832" y="3858768"/>
            <a:ext cx="2011680" cy="475488"/>
          </a:xfrm>
          <a:prstGeom prst="roundRect">
            <a:avLst/>
          </a:prstGeom>
          <a:solidFill>
            <a:srgbClr val="173A43"/>
          </a:solidFill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50" b="1">
                <a:solidFill>
                  <a:srgbClr val="FFFFFF"/>
                </a:solidFill>
                <a:latin typeface="Aptos"/>
              </a:rPr>
              <a:t>A SAMPLE STORY</a:t>
            </a:r>
            <a:endParaRPr lang="en-US" sz="1050"/>
          </a:p>
        </p:txBody>
      </p:sp>
      <p:pic>
        <p:nvPicPr>
          <p:cNvPr id="7" name="Pelican 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594360"/>
            <a:ext cx="5989320" cy="4114800"/>
          </a:xfrm>
          <a:prstGeom prst="rect">
            <a:avLst/>
          </a:prstGeom>
        </p:spPr>
      </p:pic>
      <p:sp>
        <p:nvSpPr>
          <p:cNvPr id="8" name="Footer"/>
          <p:cNvSpPr/>
          <p:nvPr/>
        </p:nvSpPr>
        <p:spPr>
          <a:xfrm>
            <a:off x="941832" y="621792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6D8B87"/>
                </a:solidFill>
                <a:latin typeface="Aptos"/>
              </a:rPr>
              <a:t>01   /   THE JOURNEY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713232" y="56692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100" b="1">
                <a:solidFill>
                  <a:srgbClr val="D77836"/>
                </a:solidFill>
                <a:latin typeface="Aptos"/>
              </a:rPr>
              <a:t>THE ROUTE</a:t>
            </a:r>
            <a:endParaRPr lang="en-US" sz="1100"/>
          </a:p>
        </p:txBody>
      </p:sp>
      <p:sp>
        <p:nvSpPr>
          <p:cNvPr id="3" name="Headline"/>
          <p:cNvSpPr/>
          <p:nvPr/>
        </p:nvSpPr>
        <p:spPr>
          <a:xfrm>
            <a:off x="713232" y="950976"/>
            <a:ext cx="457200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900" b="1">
                <a:solidFill>
                  <a:srgbClr val="173A43"/>
                </a:solidFill>
                <a:latin typeface="Aptos"/>
              </a:rPr>
              <a:t>Follow the</a:t>
            </a:r>
            <a:br>
              <a:rPr lang="en-US" sz="2900"/>
            </a:br>
            <a:r>
              <a:rPr lang="en-US" sz="2900" b="1">
                <a:solidFill>
                  <a:srgbClr val="173A43"/>
                </a:solidFill>
                <a:latin typeface="Aptos"/>
              </a:rPr>
              <a:t>shoreline.</a:t>
            </a:r>
            <a:endParaRPr lang="en-US" sz="2900"/>
          </a:p>
        </p:txBody>
      </p:sp>
      <p:sp>
        <p:nvSpPr>
          <p:cNvPr id="4" name="Body"/>
          <p:cNvSpPr/>
          <p:nvPr/>
        </p:nvSpPr>
        <p:spPr>
          <a:xfrm>
            <a:off x="731520" y="2331720"/>
            <a:ext cx="420624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0">
                <a:solidFill>
                  <a:srgbClr val="477078"/>
                </a:solidFill>
                <a:latin typeface="Aptos"/>
              </a:rPr>
              <a:t>A winding waterfront path turns a simple bike ride into a full day out.</a:t>
            </a:r>
            <a:endParaRPr lang="en-US" sz="1700"/>
          </a:p>
        </p:txBody>
      </p:sp>
      <p:sp>
        <p:nvSpPr>
          <p:cNvPr id="5" name="Start card"/>
          <p:cNvSpPr/>
          <p:nvPr/>
        </p:nvSpPr>
        <p:spPr>
          <a:xfrm>
            <a:off x="731520" y="3913632"/>
            <a:ext cx="2240280" cy="1188720"/>
          </a:xfrm>
          <a:prstGeom prst="roundRect">
            <a:avLst/>
          </a:prstGeom>
          <a:solidFill>
            <a:srgbClr val="E2F1E8"/>
          </a:solidFill>
          <a:ln>
            <a:noFill/>
          </a:ln>
        </p:spPr>
      </p:sp>
      <p:sp>
        <p:nvSpPr>
          <p:cNvPr id="6" name="Pause card"/>
          <p:cNvSpPr/>
          <p:nvPr/>
        </p:nvSpPr>
        <p:spPr>
          <a:xfrm>
            <a:off x="3182112" y="3913632"/>
            <a:ext cx="2240280" cy="1188720"/>
          </a:xfrm>
          <a:prstGeom prst="roundRect">
            <a:avLst/>
          </a:prstGeom>
          <a:solidFill>
            <a:srgbClr val="FFF0CF"/>
          </a:solidFill>
          <a:ln>
            <a:noFill/>
          </a:ln>
        </p:spPr>
      </p:sp>
      <p:sp>
        <p:nvSpPr>
          <p:cNvPr id="7" name="Start text"/>
          <p:cNvSpPr/>
          <p:nvPr/>
        </p:nvSpPr>
        <p:spPr>
          <a:xfrm>
            <a:off x="932688" y="411480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 b="1">
                <a:solidFill>
                  <a:srgbClr val="24535B"/>
                </a:solidFill>
                <a:latin typeface="Aptos"/>
              </a:rPr>
              <a:t>01  /  Start</a:t>
            </a:r>
            <a:br>
              <a:rPr lang="en-US" sz="1200"/>
            </a:br>
            <a:r>
              <a:rPr lang="en-US" sz="1200" b="1">
                <a:solidFill>
                  <a:srgbClr val="24535B"/>
                </a:solidFill>
                <a:latin typeface="Aptos"/>
              </a:rPr>
              <a:t>Roll out from the old harbor.</a:t>
            </a:r>
            <a:endParaRPr lang="en-US" sz="1200"/>
          </a:p>
        </p:txBody>
      </p:sp>
      <p:sp>
        <p:nvSpPr>
          <p:cNvPr id="8" name="Pause text"/>
          <p:cNvSpPr/>
          <p:nvPr/>
        </p:nvSpPr>
        <p:spPr>
          <a:xfrm>
            <a:off x="3383280" y="411480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 b="1">
                <a:solidFill>
                  <a:srgbClr val="24535B"/>
                </a:solidFill>
                <a:latin typeface="Aptos"/>
              </a:rPr>
              <a:t>02  /  Pause</a:t>
            </a:r>
            <a:br>
              <a:rPr lang="en-US" sz="1200"/>
            </a:br>
            <a:r>
              <a:rPr lang="en-US" sz="1200" b="1">
                <a:solidFill>
                  <a:srgbClr val="24535B"/>
                </a:solidFill>
                <a:latin typeface="Aptos"/>
              </a:rPr>
              <a:t>Snack by the water.</a:t>
            </a:r>
            <a:endParaRPr lang="en-US" sz="1200"/>
          </a:p>
        </p:txBody>
      </p:sp>
      <p:pic>
        <p:nvPicPr>
          <p:cNvPr id="9" name="Pelican 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325880"/>
            <a:ext cx="5577840" cy="3794760"/>
          </a:xfrm>
          <a:prstGeom prst="rect">
            <a:avLst/>
          </a:prstGeom>
        </p:spPr>
      </p:pic>
      <p:sp>
        <p:nvSpPr>
          <p:cNvPr id="10" name="Footer"/>
          <p:cNvSpPr/>
          <p:nvPr/>
        </p:nvSpPr>
        <p:spPr>
          <a:xfrm>
            <a:off x="731520" y="621792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6D8B87"/>
                </a:solidFill>
                <a:latin typeface="Aptos"/>
              </a:rPr>
              <a:t>02   /   THE ROUTE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713232" y="56692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100" b="1">
                <a:solidFill>
                  <a:srgbClr val="D77836"/>
                </a:solidFill>
                <a:latin typeface="Aptos"/>
              </a:rPr>
              <a:t>THE LITTLE MOMENTS</a:t>
            </a:r>
            <a:endParaRPr lang="en-US" sz="1100"/>
          </a:p>
        </p:txBody>
      </p:sp>
      <p:sp>
        <p:nvSpPr>
          <p:cNvPr id="3" name="Headline"/>
          <p:cNvSpPr/>
          <p:nvPr/>
        </p:nvSpPr>
        <p:spPr>
          <a:xfrm>
            <a:off x="713232" y="932688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700" b="1">
                <a:solidFill>
                  <a:srgbClr val="173A43"/>
                </a:solidFill>
                <a:latin typeface="Aptos"/>
              </a:rPr>
              <a:t>Make room to wander</a:t>
            </a:r>
            <a:endParaRPr lang="en-US" sz="2700"/>
          </a:p>
        </p:txBody>
      </p:sp>
      <p:sp>
        <p:nvSpPr>
          <p:cNvPr id="4" name="Lead"/>
          <p:cNvSpPr/>
          <p:nvPr/>
        </p:nvSpPr>
        <p:spPr>
          <a:xfrm>
            <a:off x="731520" y="1737360"/>
            <a:ext cx="42519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600" b="0">
                <a:solidFill>
                  <a:srgbClr val="477078"/>
                </a:solidFill>
                <a:latin typeface="Aptos"/>
              </a:rPr>
              <a:t>Sea views, a roadside flower, and an unhurried pace make the ride memorable.</a:t>
            </a:r>
            <a:endParaRPr lang="en-US" sz="1600"/>
          </a:p>
        </p:txBody>
      </p:sp>
      <p:sp>
        <p:nvSpPr>
          <p:cNvPr id="5" name="Teal swatch"/>
          <p:cNvSpPr/>
          <p:nvPr/>
        </p:nvSpPr>
        <p:spPr>
          <a:xfrm>
            <a:off x="731520" y="2962656"/>
            <a:ext cx="1325880" cy="1051560"/>
          </a:xfrm>
          <a:prstGeom prst="roundRect">
            <a:avLst/>
          </a:prstGeom>
          <a:solidFill>
            <a:srgbClr val="388B9C"/>
          </a:solidFill>
          <a:ln>
            <a:noFill/>
          </a:ln>
        </p:spPr>
      </p:sp>
      <p:sp>
        <p:nvSpPr>
          <p:cNvPr id="6" name="Green swatch"/>
          <p:cNvSpPr/>
          <p:nvPr/>
        </p:nvSpPr>
        <p:spPr>
          <a:xfrm>
            <a:off x="2267712" y="2962656"/>
            <a:ext cx="1325880" cy="1051560"/>
          </a:xfrm>
          <a:prstGeom prst="roundRect">
            <a:avLst/>
          </a:prstGeom>
          <a:solidFill>
            <a:srgbClr val="C7E9C4"/>
          </a:solidFill>
          <a:ln>
            <a:noFill/>
          </a:ln>
        </p:spPr>
      </p:sp>
      <p:sp>
        <p:nvSpPr>
          <p:cNvPr id="7" name="Yellow swatch"/>
          <p:cNvSpPr/>
          <p:nvPr/>
        </p:nvSpPr>
        <p:spPr>
          <a:xfrm>
            <a:off x="3803904" y="2962656"/>
            <a:ext cx="1325880" cy="1051560"/>
          </a:xfrm>
          <a:prstGeom prst="roundRect">
            <a:avLst/>
          </a:prstGeom>
          <a:solidFill>
            <a:srgbClr val="F1A936"/>
          </a:solidFill>
          <a:ln>
            <a:noFill/>
          </a:ln>
        </p:spPr>
      </p:sp>
      <p:sp>
        <p:nvSpPr>
          <p:cNvPr id="8" name="Labels"/>
          <p:cNvSpPr/>
          <p:nvPr/>
        </p:nvSpPr>
        <p:spPr>
          <a:xfrm>
            <a:off x="731520" y="416052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 b="1">
                <a:solidFill>
                  <a:srgbClr val="24535B"/>
                </a:solidFill>
                <a:latin typeface="Aptos"/>
              </a:rPr>
              <a:t>SEA AIR      GREEN WAY      GOLDEN HOUR</a:t>
            </a:r>
            <a:endParaRPr lang="en-US" sz="1200"/>
          </a:p>
        </p:txBody>
      </p:sp>
      <p:pic>
        <p:nvPicPr>
          <p:cNvPr id="9" name="Pelican 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325880"/>
            <a:ext cx="5532120" cy="3749040"/>
          </a:xfrm>
          <a:prstGeom prst="rect">
            <a:avLst/>
          </a:prstGeom>
        </p:spPr>
      </p:pic>
      <p:sp>
        <p:nvSpPr>
          <p:cNvPr id="10" name="Closing line"/>
          <p:cNvSpPr/>
          <p:nvPr/>
        </p:nvSpPr>
        <p:spPr>
          <a:xfrm>
            <a:off x="731520" y="516636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D77836"/>
                </a:solidFill>
                <a:latin typeface="Aptos"/>
              </a:rPr>
              <a:t>The best part is taking the long way home.</a:t>
            </a:r>
            <a:endParaRPr lang="en-US" sz="1700"/>
          </a:p>
        </p:txBody>
      </p:sp>
      <p:sp>
        <p:nvSpPr>
          <p:cNvPr id="11" name="Footer"/>
          <p:cNvSpPr/>
          <p:nvPr/>
        </p:nvSpPr>
        <p:spPr>
          <a:xfrm>
            <a:off x="731520" y="621792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6D8B87"/>
                </a:solidFill>
                <a:latin typeface="Aptos"/>
              </a:rPr>
              <a:t>03   /   THE GOOD PART</a:t>
            </a:r>
            <a:endParaRPr lang="en-US" sz="1000"/>
          </a:p>
        </p:txBody>
      </p:sp>
    </p:spTree>
  </p:cSld>
  <p:clrMapOvr>
    <a:masterClrMapping/>
  </p:clrMapOvr>
</p:sld>
</file>